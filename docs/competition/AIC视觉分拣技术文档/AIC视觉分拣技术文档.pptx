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704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9D8F0"/>
                </a:solidFill>
                <a:latin typeface="微软雅黑"/>
                <a:ea typeface="微软雅黑"/>
                <a:cs typeface="微软雅黑"/>
              </a:rPr>
              <a:t>AIC 2026 · 算法应用赛 · 视觉逻辑算法应用赛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圆形铁片四缺陷识别与分拣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DDE7F5"/>
                </a:solidFill>
                <a:latin typeface="微软雅黑"/>
                <a:ea typeface="微软雅黑"/>
                <a:cs typeface="微软雅黑"/>
              </a:rPr>
              <a:t>基于自建 Gazebo 数字孪生的视觉 — 决策 — 控制闭环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529584"/>
            <a:ext cx="19202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803904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GXU RobotZ · 广西大学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9D8F0"/>
                </a:solidFill>
                <a:latin typeface="微软雅黑"/>
                <a:ea typeface="微软雅黑"/>
                <a:cs typeface="微软雅黑"/>
              </a:rPr>
              <a:t>技术文档 v1.0 · 2026 年 11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79729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A9BDDA"/>
                </a:solidFill>
                <a:latin typeface="微软雅黑"/>
                <a:ea typeface="微软雅黑"/>
                <a:cs typeface="微软雅黑"/>
              </a:rPr>
              <a:t>ROS 2 Humble · Ignition Fortress · BehaviorTree.CPP 4.10 · 传统几何视觉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420624" cy="42062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5" y="40233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59536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五章：从平台对标到实测证据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20724"/>
            <a:ext cx="10874959" cy="10972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9C7D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60934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1655064"/>
            <a:ext cx="6583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四层架构、话题契约与三个核心指标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2768" y="2043684"/>
            <a:ext cx="10618927" cy="9144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4688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9C7D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4505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平台对标说明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96312"/>
            <a:ext cx="6583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逐条对应官方规则，说明自建平台的等价性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72768" y="2884932"/>
            <a:ext cx="10618927" cy="9144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31012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9C7DD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2918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关键算法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337560"/>
            <a:ext cx="6583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铁片定位、四类缺陷判据、图像集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72768" y="3726180"/>
            <a:ext cx="10618927" cy="9144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51376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9C7DD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1330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系统实现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178808"/>
            <a:ext cx="6583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行为树决策、三轴控制、全过程可视化与实时判分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72768" y="4567428"/>
            <a:ext cx="10618927" cy="9144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99262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9C7DD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9743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验证与展望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5020056"/>
            <a:ext cx="6583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主结果、泛化回归、负向注入与后续计划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72768" y="5408676"/>
            <a:ext cx="10618927" cy="9144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45566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AIC 视觉逻辑算法应用赛 · GXU RobotZ · 广西大学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3167" y="645566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420624" cy="42062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5" y="40233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59536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四层解耦：仿真提供真值，视觉判型，决策调度，控制执行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20724"/>
            <a:ext cx="10874959" cy="10972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5074920" cy="1225296"/>
          </a:xfrm>
          <a:prstGeom prst="rect">
            <a:avLst/>
          </a:prstGeom>
          <a:solidFill>
            <a:srgbClr val="F7F9FC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50292" cy="122529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09344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仿真 Gazebo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38528"/>
            <a:ext cx="47091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Ignition Fortress 数字孪生：12 块物料、4 列 × 3 层放置货架、
三轴龙门 + 吸盘、固定相机；物理与渲染均为真实计算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1481328"/>
            <a:ext cx="5074920" cy="1225296"/>
          </a:xfrm>
          <a:prstGeom prst="rect">
            <a:avLst/>
          </a:prstGeom>
          <a:solidFill>
            <a:srgbClr val="F7F9FC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481328"/>
            <a:ext cx="50292" cy="122529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5" y="1609344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视觉 aic_vision_trad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5" y="1938528"/>
            <a:ext cx="47091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OpenCV 传统几何：整图 Hough + 内亮外暗环对比 +
Kasa 圆精修 + 四类缺陷判据（无训练数据依赖）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898648"/>
            <a:ext cx="5074920" cy="1225296"/>
          </a:xfrm>
          <a:prstGeom prst="rect">
            <a:avLst/>
          </a:prstGeom>
          <a:solidFill>
            <a:srgbClr val="F7F9FC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898648"/>
            <a:ext cx="50292" cy="122529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026664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决策 aic_behavior_tree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355848"/>
            <a:ext cx="47091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BehaviorTree.CPP 4.10：12 轮巡视、GOTO/HANDLE 调度、
视觉超时兜底与迟到结果防护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898648"/>
            <a:ext cx="5074920" cy="1225296"/>
          </a:xfrm>
          <a:prstGeom prst="rect">
            <a:avLst/>
          </a:prstGeom>
          <a:solidFill>
            <a:srgbClr val="F7F9FC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2898648"/>
            <a:ext cx="50292" cy="122529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3026664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控制 gantry_controller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5" y="3355848"/>
            <a:ext cx="47091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FIFO 队列 + 梯形速度剖面 + 关节闭环到位；
上料走 set_pose、取放走 DetachableJoint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24528"/>
            <a:ext cx="10874959" cy="56692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2976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契约不变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75688" y="4315968"/>
            <a:ext cx="9509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/control/material_task   ·   /vision/material_type   ·   /sim/gantry_arrived   ·   /sim/handle_done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047488"/>
            <a:ext cx="3246120" cy="1188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5047488"/>
            <a:ext cx="54864" cy="11887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19379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12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669279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识别与放置全对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94360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真视觉、0 超时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5047488"/>
            <a:ext cx="3246120" cy="1188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0" y="5047488"/>
            <a:ext cx="54864" cy="11887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519379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60 位点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5669279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随机几何 0 误判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594360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5 个种子 × 12 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71231" y="5047488"/>
            <a:ext cx="3886200" cy="1188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71231" y="5047488"/>
            <a:ext cx="54864" cy="11887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5193792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0.0 mm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669279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放置落位误差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94360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单轮约 145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5566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AIC 视觉逻辑算法应用赛 · GXU RobotZ · 广西大学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53167" y="645566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420624" cy="42062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5" y="40233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平台对标说明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59536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自建平台不是「替代品」：逐条实现官方规则，并用同一套指标验收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20724"/>
            <a:ext cx="10874959" cy="10972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481328"/>
          <a:ext cx="10835640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4526280"/>
                <a:gridCol w="329184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官方规则 / 能力</a:t>
                      </a:r>
                    </a:p>
                  </a:txBody>
                  <a:tcPr marL="73152" marR="54864" marT="27432" marB="27432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本方案实现</a:t>
                      </a:r>
                    </a:p>
                  </a:txBody>
                  <a:tcPr marL="73152" marR="54864" marT="27432" marB="27432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验收证据</a:t>
                      </a:r>
                    </a:p>
                  </a:txBody>
                  <a:tcPr marL="73152" marR="54864" marT="27432" marB="27432" anchor="ctr">
                    <a:solidFill>
                      <a:srgbClr val="0E3F8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置物台生成物料 → 拍照 → 抓取 → 放置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每轮 set_pose 把 material_NN 传送到置物台，固定相机拍照后下探吸取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上料 12 次 OK；吸附 / 释放各 12 次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放置位四列对应四类缺陷，每列三个位置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货架 4 列 × 3 层，按类型列的最低空层放入，每格一块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 块全部落对应列，L1→L3 逐层填满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每个库位有且只有一个物料（不堆叠）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控制器维护每列已用层数，放满即拒绝并报错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落位断言：每格唯一，z 与层高一致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三轴行程 X/Y/Z = 300/300/200 mm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 ±0.45 m、y −0.24…+0.36 m、z −0.20…+0.03 m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行程覆盖置物台与四列三层货架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吸盘吸取（SuctionEnable）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吸盘几何 + DetachableJoint 吸附/断气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吸附与释放成对，物料随龙门移动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自动运行、正确变绿 / 错误变红、自动计分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行为树自动 12 轮；看板按类型列判分，绿 / 红 / 琥珀实时显示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单轮约 145 s 无人干预；看板 12 绿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961888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结论：官方平台的四项硬指标（上料节拍、四列三位置、吸盘取放、自动计分）在自建平台上均可复现，且每一步都有可回放的日志与位姿证据。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5566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AIC 视觉逻辑算法应用赛 · GXU RobotZ · 广西大学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3167" y="645566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420624" cy="42062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5" y="40233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任务与场景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59536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布局由单一 YAML 驱动：改一处，世界、控制、判分同时生效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20724"/>
            <a:ext cx="10874959" cy="10972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pic>
        <p:nvPicPr>
          <p:cNvPr id="6" name="Picture 5" descr="scen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84470"/>
            <a:ext cx="6720840" cy="31748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53528" y="148132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·  生成物料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408" y="1755648"/>
            <a:ext cx="3794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12 块停在底板下停料区；每轮 set_pose 到置物台 (0.30, −0.15)，等效官方「生成物料」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3528" y="2322576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·  放置货架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2596896"/>
            <a:ext cx="3794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4 列 = 四类缺陷；每列 3 层同一深度（垂直立面），放置走「前出 → 平推 → 落座」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8" y="3163824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·  识别相机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3438144"/>
            <a:ext cx="3794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固定在置物台正上方，先拍照后下探，吸盘不遮挡光路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3528" y="4005072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·  坐标口径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4279392"/>
            <a:ext cx="3794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+X 向右（列 1→4），+Y 向远，+Z 向上；与 MaterialTask.frame_id 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5566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AIC 视觉逻辑算法应用赛 · GXU RobotZ · 广西大学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53167" y="645566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420624" cy="42062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5" y="40233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关键算法 · 铁片定位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59536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先找「盘在哪」，再判「盘上是什么」——定位精度决定所有归一化判据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20724"/>
            <a:ext cx="10874959" cy="10972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1517904"/>
            <a:ext cx="384048" cy="384048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5" y="149961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整图 Hough 圆检测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5" y="1810512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不要求盘居中；对浅色台面 / 深色地贴都成立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596896"/>
            <a:ext cx="384048" cy="384048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257860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内亮外暗环对比选优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5" y="2889503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用盘内外亮度差挑出真正的盘，排除孔洞与阴影误检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75887"/>
            <a:ext cx="384048" cy="384048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5" y="3657599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径向扫描 + Kasa 拟合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5" y="3968496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180 条射线 × 40 个半径，取边缘内点做最小二乘圆拟合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754879"/>
            <a:ext cx="384048" cy="384048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" y="473659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失败兜底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5" y="504748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整图失败时退回 ROI 拟合圆；两条路径都过同一套精修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1554480"/>
            <a:ext cx="2331720" cy="1188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20840" y="1554480"/>
            <a:ext cx="54864" cy="11887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2007" y="170078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0.1–0.5 px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7" y="2176272"/>
            <a:ext cx="2057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精修后半径抖动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7" y="2450591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Hough 原始 ±9%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554480"/>
            <a:ext cx="2331720" cy="1188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554480"/>
            <a:ext cx="54864" cy="11887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8" y="170078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85 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2176272"/>
            <a:ext cx="2057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盘半径（640×480）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450591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距盘面约 0.26 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2999232"/>
            <a:ext cx="4846320" cy="1975104"/>
          </a:xfrm>
          <a:prstGeom prst="rect">
            <a:avLst/>
          </a:prstGeom>
          <a:solidFill>
            <a:srgbClr val="F7F9FC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145536"/>
            <a:ext cx="4526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为什么必须精修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孔洞半径、划痕长度都按「盘半径」归一化。Hough 的 dp=1.2 让半径落在 1.2 px 网格上，逐帧抖动 80.3–87.4 px；同一块料的 frac 会从 0.030 漂到 0.072，阈值无从下手。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精修后组内标准差 0.10–0.49 px。缺角不依赖半径：只用「重心到盘心 / 盘半径」（0.87 vs 0.21），随机化后仍稳。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596128"/>
            <a:ext cx="5440680" cy="4572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5669280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定位失败时「不发消息」而非猜一个类型——决策侧记 TIMEOUT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5566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AIC 视觉逻辑算法应用赛 · GXU RobotZ · 广西大学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3167" y="645566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420624" cy="42062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5" y="40233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关键算法 · 四类缺陷判据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59536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几何量优先，几何失效时换物理量——判据链按「误判代价」排序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20724"/>
            <a:ext cx="10874959" cy="10972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481328"/>
          <a:ext cx="10835639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3931920"/>
                <a:gridCol w="3749039"/>
                <a:gridCol w="205740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L="73152" marR="54864" marT="27432" marB="27432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主判据</a:t>
                      </a:r>
                    </a:p>
                  </a:txBody>
                  <a:tcPr marL="73152" marR="54864" marT="27432" marB="27432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阈值</a:t>
                      </a:r>
                    </a:p>
                  </a:txBody>
                  <a:tcPr marL="73152" marR="54864" marT="27432" marB="27432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实测余量</a:t>
                      </a:r>
                    </a:p>
                  </a:txBody>
                  <a:tcPr marL="73152" marR="54864" marT="27432" marB="27432" anchor="ctr">
                    <a:solidFill>
                      <a:srgbClr val="0E3F8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缺角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贴盘缘（重心半径）+ 非细长（挡掉盘缘暗沿）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rad ≥ 0.70, elong ≤ 4.5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rad 0.87 vs 0.21（4 倍）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孔洞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空心轮廓「围住」的像素占比 enclosed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enclosed ≥ 0.30, 0.004 ≤ frac ≤ 0.060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1.22 vs 0.00（其余三类恒 0）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污渍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圆度 + 凸包填充（实心圆斑）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circ ≥ 0.60, solidity ≥ 0.85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circ 0.96 vs 0.49（2 倍）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划痕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兜底：细弧钩（细、开口、不闭合）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fill 0.19 / solidity 0.24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4681728"/>
            <a:ext cx="10874959" cy="1325880"/>
          </a:xfrm>
          <a:prstGeom prst="rect">
            <a:avLst/>
          </a:prstGeom>
          <a:solidFill>
            <a:srgbClr val="F7F9FC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809744"/>
            <a:ext cx="1047262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两个设计取舍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① 阈值不贴实测值：缺角 rad 实测 0.87，阈值取 0.70；孔洞 enclosed 实测 1.22，阈值取 0.30 —— 为「精修被拒、退回整像素圆」的最坏情况留口子。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② 盘缘暗沿会伪装成缺角：圆柱侧壁的暗沿同样贴边（rad 0.87），但它是细长条（elong 7–11）；判据里用 elong ≤ 4.5 先把它挡掉，再认缺口。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5566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AIC 视觉逻辑算法应用赛 · GXU RobotZ · 广西大学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45566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420624" cy="42062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5" y="40233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图像集展示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59536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4 类 × 3 例：每格标注判据复算值，可直接核对阈值余量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20724"/>
            <a:ext cx="10874959" cy="10972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pic>
        <p:nvPicPr>
          <p:cNvPr id="6" name="Picture 5" descr="vision_at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802" y="1389888"/>
            <a:ext cx="3783531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19088" y="151790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·  采集口径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1968" y="1792224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全部来自 Gazebo 相机实时渲染，非预置图片；每帧 640×480，盘半径约 85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43230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·  标注内容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706624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类型、判据名与关键量（fill / elong / circ / frac / drop / core），由脚本复算而非手写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34670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·  覆盖范围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3621024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四类各 3 例，含贴边孔洞、细长划痕等边界样本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426110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·  用途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4535424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作为阈值回归基线；几何随机化后同口径可再生成图版对比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4846320"/>
            <a:ext cx="5074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图版由 scripts/make_atlas.py 从调试图重排生成：脚本会重新调用分类器，因此图上的判据值与当时的判定结果必然一致，不存在「图注与代码不同步」。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5566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AIC 视觉逻辑算法应用赛 · GXU RobotZ · 广西大学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3167" y="645566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420624" cy="42062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5" y="40233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系统实现 · 行为树决策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59536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12 轮巡视是固定的，异常才是变量——兜底逻辑比主流程更重要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20724"/>
            <a:ext cx="10874959" cy="10972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847088" cy="932688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巡视第 N 轮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GOTO(slot)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60320" y="1956816"/>
            <a:ext cx="219456" cy="182880"/>
          </a:xfrm>
          <a:prstGeom prst="rightArrow">
            <a:avLst/>
          </a:prstGeom>
          <a:solidFill>
            <a:srgbClr val="B9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39" y="1572768"/>
            <a:ext cx="1847088" cy="932688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上料到位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gantry_arrived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36591" y="1956816"/>
            <a:ext cx="219456" cy="182880"/>
          </a:xfrm>
          <a:prstGeom prst="rightArrow">
            <a:avLst/>
          </a:prstGeom>
          <a:solidFill>
            <a:srgbClr val="B9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10912" y="1572768"/>
            <a:ext cx="1847088" cy="932688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视觉判型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material_type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12864" y="1956816"/>
            <a:ext cx="219456" cy="182880"/>
          </a:xfrm>
          <a:prstGeom prst="rightArrow">
            <a:avLst/>
          </a:prstGeom>
          <a:solidFill>
            <a:srgbClr val="B9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87183" y="1572768"/>
            <a:ext cx="1847088" cy="932688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取放执行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HANDLE(slot,type)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089136" y="1956816"/>
            <a:ext cx="219456" cy="182880"/>
          </a:xfrm>
          <a:prstGeom prst="rightArrow">
            <a:avLst/>
          </a:prstGeom>
          <a:solidFill>
            <a:srgbClr val="B9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63456" y="1572768"/>
            <a:ext cx="1847088" cy="932688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记录结果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CSV + 看板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26080"/>
            <a:ext cx="5346039" cy="1481328"/>
          </a:xfrm>
          <a:prstGeom prst="rect">
            <a:avLst/>
          </a:prstGeom>
          <a:solidFill>
            <a:srgbClr val="FDF6E7"/>
          </a:solidFill>
          <a:ln w="12700">
            <a:solidFill>
              <a:srgbClr val="E8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054096"/>
            <a:ext cx="4980279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9A6200"/>
                </a:solidFill>
                <a:latin typeface="微软雅黑"/>
                <a:ea typeface="微软雅黑"/>
                <a:cs typeface="微软雅黑"/>
              </a:rPr>
              <a:t>视觉超时兜底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决策对 GOTO/HANDLE 都递增 visit_index，不能用编号推相邻位点。改为语义推断：新 GOTO 到达时，仍停在「识别中」的位点记 TIMEOUT。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287" y="2926080"/>
            <a:ext cx="5346039" cy="1481328"/>
          </a:xfrm>
          <a:prstGeom prst="rect">
            <a:avLst/>
          </a:prstGeom>
          <a:solidFill>
            <a:srgbClr val="FDF6E7"/>
          </a:solidFill>
          <a:ln w="12700">
            <a:solidFill>
              <a:srgbClr val="E8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167" y="3054096"/>
            <a:ext cx="4980279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9A6200"/>
                </a:solidFill>
                <a:latin typeface="微软雅黑"/>
                <a:ea typeface="微软雅黑"/>
                <a:cs typeface="微软雅黑"/>
              </a:rPr>
              <a:t>迟到结果防护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识别结果晚到会被下一位点误收（类型错位但结果表仍显示 OK）。窗口按最坏队列时延设定：实测 GOTO→结果 15.5 s，现取 30 s。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81728"/>
            <a:ext cx="10874959" cy="129844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809744"/>
            <a:ext cx="10472623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为什么用行为树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巡视、识别、取放三类动作的失败语义完全不同：识别失败要跳过、取放失败要记录、通信失败要重试。用树把「正常序列」与「异常分支」分开，决策层不含任何运动学细节，控制层可整体替换为真机 PLCnext 而不改一个节点。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5566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AIC 视觉逻辑算法应用赛 · GXU RobotZ · 广西大学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3167" y="645566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420624" cy="42062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5" y="40233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系统实现 · 三轴控制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59536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指令是 fire-and-forget，执行必须自己保证「真的到位」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20724"/>
            <a:ext cx="10874959" cy="10972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1572768"/>
            <a:ext cx="274320" cy="27432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17904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上料：set_pose 传送到置物台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304288"/>
            <a:ext cx="274320" cy="27432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49424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走到停靠偏移位（吸盘让出光路）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035808"/>
            <a:ext cx="274320" cy="27432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80944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下探 → 吸盘吸附（DetachableJoint）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767327"/>
            <a:ext cx="274320" cy="27432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12463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抬升 → 平移到类型列最低空层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498847"/>
            <a:ext cx="274320" cy="27432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43983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触底放置 → 断气 → 抬升 → 完成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554480"/>
            <a:ext cx="2331720" cy="1188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1554480"/>
            <a:ext cx="54864" cy="11887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170078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0–1.2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176272"/>
            <a:ext cx="2057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稳态到位误差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2450591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闭环判据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554480"/>
            <a:ext cx="2331720" cy="1188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554480"/>
            <a:ext cx="54864" cy="11887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0888" y="1700784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3 / 10 mm/s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2176272"/>
            <a:ext cx="2057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位置 / 速度阈值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8" y="2450591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连续 3 拍确认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980944"/>
            <a:ext cx="4846320" cy="2194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108960"/>
            <a:ext cx="4526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三个必须写进代码的细节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① 到位 = 反馈收敛，不是剖面走完。早期按「剖面时间 + 0.15 s」报到位，实际还在追、过冲 17.7 mm，相机偏一整格。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② 每拍都下发目标。竖直轴是速度伺服，停发后重力把它拉到底（实测掉 420 mm）。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3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③ 放置用「触底」判据：托盘接触后控制器仍在下压，按精确到位判会白等到超时，并连锁挤爆下一个位点的视觉窗口。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138928"/>
            <a:ext cx="5440680" cy="47548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5212080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单次 HANDLE 实测 12.8 s：取料 + 搬运 + 放入三个动作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5566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AIC 视觉逻辑算法应用赛 · GXU RobotZ · 广西大学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3167" y="645566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420624" cy="42062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5" y="40233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全过程可视化与实时判分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59536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一页看全：抓取过程、识别结果、得分——单窗口即可录制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20724"/>
            <a:ext cx="10874959" cy="10972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pic>
        <p:nvPicPr>
          <p:cNvPr id="6" name="Picture 5" descr="staging_camera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787" y="1481328"/>
            <a:ext cx="328168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4681728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固定相机实拍：置物台上的铁片与划痕（640×480）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4648" y="1517904"/>
            <a:ext cx="6355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·  全景 · 自由摄像机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67528" y="1792224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世界内独立相机，看板可切 4 个预设机位并六向平移，抓取全程可见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4648" y="2359152"/>
            <a:ext cx="6355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·  末端相机画中画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2633472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识别原图 + 当前位点 / 判型 / 实时比分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3200400"/>
            <a:ext cx="6355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·  俯视态势图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3474720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物料由停料区生成到置物台 → 吸盘（随龙门）→ 货架层位，全程位置可见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4041648"/>
            <a:ext cx="6355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·  实时判分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4315968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按「放置列 == 物料类型」判绿 / 红；超时单独计数；纯旁路，不干扰主链路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84648" y="4041648"/>
            <a:ext cx="6355080" cy="155448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8" y="4169663"/>
            <a:ext cx="5989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为什么判分必须独立成节点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判分只订阅、不发布：它挂了链路照常跑，它算错也不会反向影响决策。真值只取 sim_layout.yaml 的 materials.types 一份事实，避免「视觉真值」与「判分真值」漂移。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0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浏览器打开 127.0.0.1:8080，OBS 录这一个窗口即满足「单窗口合成录制」。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5566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AIC 视觉逻辑算法应用赛 · GXU RobotZ · 广西大学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3167" y="645566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420624" cy="42062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5" y="40233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实验与验证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59536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所有结论都可在本机复现：一条命令跑完并自动断言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20724"/>
            <a:ext cx="10874959" cy="10972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2615184" cy="1170432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63040"/>
            <a:ext cx="54864" cy="117043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09344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12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84832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主结果全对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59152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真视觉、0 超时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287" y="1463040"/>
            <a:ext cx="2615184" cy="1170432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287" y="1463040"/>
            <a:ext cx="54864" cy="117043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1609344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0 误判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084832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60 位点泛化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359152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5 种子 × 12 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7" y="1463040"/>
            <a:ext cx="2615184" cy="1170432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7" y="1463040"/>
            <a:ext cx="54864" cy="117043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5" y="1609344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0.0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5" y="2084832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落位误差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5" y="2359152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x / y 方向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5128" y="1463040"/>
            <a:ext cx="2615184" cy="1170432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5128" y="1463040"/>
            <a:ext cx="54864" cy="117043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1609344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12 + 12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084832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吸附 / 释放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2359152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无卡料、无漏放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58368" y="2907792"/>
          <a:ext cx="10835640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/>
                <a:gridCol w="5623560"/>
                <a:gridCol w="306324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验证项</a:t>
                      </a:r>
                    </a:p>
                  </a:txBody>
                  <a:tcPr marL="73152" marR="54864" marT="27432" marB="27432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73152" marR="54864" marT="27432" marB="27432" anchor="ctr">
                    <a:solidFill>
                      <a:srgbClr val="0E3F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 marL="73152" marR="54864" marT="27432" marB="27432" anchor="ctr">
                    <a:solidFill>
                      <a:srgbClr val="0E3F8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识别正确性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真视觉跑完整一轮，逐位点比对 materials.types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12/12，0 超时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阈值泛化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jitter_seed 1–5 随机化缺陷几何，各跑 12 位点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 位点 0 误判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物理落位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pose/info 读 12 块物料世界坐标，对照类型列与层高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误差 0.0 mm，L1–L3 逐层填满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鲁棒性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注入 60% 识别失败（drop_rate=0.6）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巡视不中断，超时被正确计数</a:t>
                      </a:r>
                    </a:p>
                  </a:txBody>
                  <a:tcPr marL="73152" marR="54864" marT="27432" marB="27432" anchor="ctr">
                    <a:solidFill>
                      <a:srgbClr val="F4F7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关停正确性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整轮后检查吸附 / 释放条数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 12 次，最后一块不卡在吸盘上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58368" y="594360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一键复现：./scripts/verify_sim_m2.sh（跑完自动调 check_sim_m2.py 做三组断言，失败打印具体条目）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5566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AIC 视觉逻辑算法应用赛 · GXU RobotZ · 广西大学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53167" y="645566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420624" cy="42062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5295" y="40233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59536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省赛要件已齐备；国赛把「能跑通」升级为「可迁移」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20724"/>
            <a:ext cx="10874959" cy="10972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517904"/>
            <a:ext cx="786384" cy="40233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8488" y="1554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官方四项硬指标逐条实现：上料节拍、四列三位置、吸盘取放、自动计分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04288"/>
            <a:ext cx="786384" cy="40233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340864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12/12、60 位点 0 误判、0.0 mm 落位；超时与迟到结果都有显式防护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090672"/>
            <a:ext cx="786384" cy="40233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3127248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识别 → 决策 → 取放 → 判分全链路可看、可录、可复现，单条命令自验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3448" y="1463040"/>
            <a:ext cx="4526280" cy="1874519"/>
          </a:xfrm>
          <a:prstGeom prst="rect">
            <a:avLst/>
          </a:prstGeom>
          <a:solidFill>
            <a:srgbClr val="F7F9FC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6328" y="1609344"/>
            <a:ext cx="416052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E3F8C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·  复合缺陷多标签：同一块料同时有划痕 + 孔洞时的判据优先级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·  赛题映射表：把官方评分细则逐条映射到代码与日志字段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·  真机迁移：控制层替换为 PLCnext，视觉与决策零改动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·  录制与提交：按官方要求完成一镜到底录像与命名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138928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技术文档与仿真平台均在本仓库内，可按 README 一键构建复现。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5566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AIC 视觉逻辑算法应用赛 · GXU RobotZ · 广西大学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53167" y="6455664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4"/>
                </a:solidFill>
                <a:latin typeface="微软雅黑"/>
                <a:ea typeface="微软雅黑"/>
                <a:cs typeface="微软雅黑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